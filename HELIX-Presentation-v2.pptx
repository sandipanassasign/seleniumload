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6" d="100"/>
          <a:sy n="86" d="100"/>
        </p:scale>
        <p:origin x="91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9E9D6B-7FEF-3A42-E085-75713C28B92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90500" y="6515100"/>
            <a:ext cx="4508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840480"/>
            <a:ext cx="12188952" cy="3017520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47472" y="1097280"/>
            <a:ext cx="54864" cy="32004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0" b="1" i="0">
                <a:solidFill>
                  <a:srgbClr val="FFFFFF"/>
                </a:solidFill>
                <a:latin typeface="Calibri"/>
              </a:rPr>
              <a:t>HELIX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51760"/>
            <a:ext cx="5486400" cy="3657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2761488"/>
            <a:ext cx="9144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BFDBFE"/>
                </a:solidFill>
                <a:latin typeface="Calibri"/>
              </a:rPr>
              <a:t>QEA Banking Agent Orchestration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01568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3C5FD"/>
                </a:solidFill>
                <a:latin typeface="Calibri"/>
              </a:rPr>
              <a:t>AI-Powered  ·  Local-First  ·  Banking-Grade  ·  ISTQB Compliant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977639"/>
            <a:ext cx="667512" cy="347472"/>
          </a:xfrm>
          <a:prstGeom prst="roundRect">
            <a:avLst>
              <a:gd name="adj" fmla="val 500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3986784"/>
            <a:ext cx="6675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v1.0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80743" y="3977639"/>
            <a:ext cx="1188719" cy="347472"/>
          </a:xfrm>
          <a:prstGeom prst="roundRect">
            <a:avLst>
              <a:gd name="adj" fmla="val 5000"/>
            </a:avLst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80743" y="3986784"/>
            <a:ext cx="118871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April 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34055" y="3977639"/>
            <a:ext cx="1188719" cy="347472"/>
          </a:xfrm>
          <a:prstGeom prst="roundRect">
            <a:avLst>
              <a:gd name="adj" fmla="val 5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34055" y="3986784"/>
            <a:ext cx="118871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Production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87367" y="3977639"/>
            <a:ext cx="1362456" cy="347472"/>
          </a:xfrm>
          <a:prstGeom prst="roundRect">
            <a:avLst>
              <a:gd name="adj" fmla="val 5000"/>
            </a:avLst>
          </a:prstGeom>
          <a:solidFill>
            <a:srgbClr val="783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087367" y="3986784"/>
            <a:ext cx="13624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Confidential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0" y="630936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080A0"/>
                </a:solidFill>
                <a:latin typeface="Calibri"/>
              </a:rPr>
              <a:t>INTERNAL USE ONLY  ·  DO NOT DISTRIBUTE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61120" y="1097280"/>
            <a:ext cx="2880360" cy="3291840"/>
          </a:xfrm>
          <a:prstGeom prst="rect">
            <a:avLst/>
          </a:prstGeom>
          <a:solidFill>
            <a:srgbClr val="0F2D5A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98280" y="1261872"/>
            <a:ext cx="1005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BFDBFE"/>
                </a:solidFill>
                <a:latin typeface="Calibri"/>
              </a:rPr>
              <a:t>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149840" y="1316736"/>
            <a:ext cx="9144" cy="3657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241280" y="1307592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3C5FD"/>
                </a:solidFill>
                <a:latin typeface="Calibri"/>
              </a:rPr>
              <a:t>Autonomous Agents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2066543"/>
            <a:ext cx="1005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BFDBFE"/>
                </a:solidFill>
                <a:latin typeface="Calibri"/>
              </a:rPr>
              <a:t>18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149840" y="2121408"/>
            <a:ext cx="9144" cy="3657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241280" y="2112263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3C5FD"/>
                </a:solidFill>
                <a:latin typeface="Calibri"/>
              </a:rPr>
              <a:t>Prompt Files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2871215"/>
            <a:ext cx="1005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BFDBFE"/>
                </a:solidFill>
                <a:latin typeface="Calibri"/>
              </a:rPr>
              <a:t>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149840" y="2926079"/>
            <a:ext cx="9144" cy="3657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241280" y="2916935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3C5FD"/>
                </a:solidFill>
                <a:latin typeface="Calibri"/>
              </a:rPr>
              <a:t>RTM Sub-Agents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98280" y="3675887"/>
            <a:ext cx="1005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BFDBFE"/>
                </a:solidFill>
                <a:latin typeface="Calibri"/>
              </a:rPr>
              <a:t>&lt;2m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149840" y="3730751"/>
            <a:ext cx="9144" cy="3657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241280" y="3721607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3C5FD"/>
                </a:solidFill>
                <a:latin typeface="Calibri"/>
              </a:rPr>
              <a:t>Execution Time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0C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0241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01168" y="91440"/>
            <a:ext cx="10515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63093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FDBFE"/>
                </a:solidFill>
                <a:latin typeface="Calibri"/>
              </a:rPr>
              <a:t>Today's Presentation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24128"/>
            <a:ext cx="12188952" cy="228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693408"/>
            <a:ext cx="12188952" cy="22860"/>
          </a:xfrm>
          <a:prstGeom prst="rect">
            <a:avLst/>
          </a:prstGeom>
          <a:solidFill>
            <a:srgbClr val="0C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6720840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HELIX  ·  QEA Banking Platform  ·  Internal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72084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Slide 2 of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" y="1170432"/>
            <a:ext cx="557784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7472" y="1170432"/>
            <a:ext cx="50292" cy="117043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12064" y="1554480"/>
            <a:ext cx="402336" cy="402336"/>
          </a:xfrm>
          <a:prstGeom prst="roundRect">
            <a:avLst>
              <a:gd name="adj" fmla="val 500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2064" y="1563624"/>
            <a:ext cx="4023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1" y="1298448"/>
            <a:ext cx="4754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Executive Summary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1" y="1737360"/>
            <a:ext cx="4754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What is HELIX, key metrics, vision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53912" y="1170432"/>
            <a:ext cx="557784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53912" y="1170432"/>
            <a:ext cx="50292" cy="11704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318503" y="1554480"/>
            <a:ext cx="402336" cy="402336"/>
          </a:xfrm>
          <a:prstGeom prst="roundRect">
            <a:avLst>
              <a:gd name="adj" fmla="val 5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18503" y="1563624"/>
            <a:ext cx="4023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9712" y="1298448"/>
            <a:ext cx="4754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Problem Statement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9712" y="1737360"/>
            <a:ext cx="4754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5 banking QA challenges we needed to solve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7472" y="2468880"/>
            <a:ext cx="557784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47472" y="2468880"/>
            <a:ext cx="50292" cy="117043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512064" y="2852928"/>
            <a:ext cx="402336" cy="402336"/>
          </a:xfrm>
          <a:prstGeom prst="roundRect">
            <a:avLst>
              <a:gd name="adj" fmla="val 5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12064" y="2862072"/>
            <a:ext cx="4023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1" y="2596896"/>
            <a:ext cx="4754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Solution Architecture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1" y="3035808"/>
            <a:ext cx="4754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How HELIX solves every challenge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53912" y="2468880"/>
            <a:ext cx="557784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53912" y="2468880"/>
            <a:ext cx="50292" cy="11704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318503" y="2852928"/>
            <a:ext cx="402336" cy="402336"/>
          </a:xfrm>
          <a:prstGeom prst="roundRect">
            <a:avLst>
              <a:gd name="adj" fmla="val 5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18503" y="2862072"/>
            <a:ext cx="4023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39712" y="2596896"/>
            <a:ext cx="4754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System Architecture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39712" y="3035808"/>
            <a:ext cx="4754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Full-stack diagram — layers, ports, services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7472" y="3767328"/>
            <a:ext cx="557784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47472" y="3767328"/>
            <a:ext cx="50292" cy="117043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512064" y="4151376"/>
            <a:ext cx="402336" cy="402336"/>
          </a:xfrm>
          <a:prstGeom prst="roundRect">
            <a:avLst>
              <a:gd name="adj" fmla="val 500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12064" y="4160520"/>
            <a:ext cx="4023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3271" y="3895344"/>
            <a:ext cx="4754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End-to-End Flow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3271" y="4334256"/>
            <a:ext cx="4754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Click → AI → Output — step by step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53912" y="3767328"/>
            <a:ext cx="557784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153912" y="3767328"/>
            <a:ext cx="50292" cy="11704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6318503" y="4151376"/>
            <a:ext cx="402336" cy="402336"/>
          </a:xfrm>
          <a:prstGeom prst="roundRect">
            <a:avLst>
              <a:gd name="adj" fmla="val 5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318503" y="4160520"/>
            <a:ext cx="4023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39712" y="3895344"/>
            <a:ext cx="4754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API Calls &amp; Integrations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39712" y="4334256"/>
            <a:ext cx="4754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Every endpoint, method, auth and purpose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47472" y="5065776"/>
            <a:ext cx="557784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347472" y="5065776"/>
            <a:ext cx="50292" cy="11704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512064" y="5449824"/>
            <a:ext cx="402336" cy="402336"/>
          </a:xfrm>
          <a:prstGeom prst="roundRect">
            <a:avLst>
              <a:gd name="adj" fmla="val 5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12064" y="5458968"/>
            <a:ext cx="4023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33271" y="5193792"/>
            <a:ext cx="4754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Technology Stack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3271" y="5632704"/>
            <a:ext cx="4754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Full inventory: languages, tools, frameworks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53912" y="5065776"/>
            <a:ext cx="557784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6153912" y="5065776"/>
            <a:ext cx="50292" cy="1170432"/>
          </a:xfrm>
          <a:prstGeom prst="rect">
            <a:avLst/>
          </a:prstGeom>
          <a:solidFill>
            <a:srgbClr val="0C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6318503" y="5449824"/>
            <a:ext cx="402336" cy="402336"/>
          </a:xfrm>
          <a:prstGeom prst="roundRect">
            <a:avLst>
              <a:gd name="adj" fmla="val 5000"/>
            </a:avLst>
          </a:prstGeom>
          <a:solidFill>
            <a:srgbClr val="0C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318503" y="5458968"/>
            <a:ext cx="4023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39712" y="5193792"/>
            <a:ext cx="4754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7 Agents + Challenges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39712" y="5632704"/>
            <a:ext cx="4754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Deep dive + 7 real problems we cracked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0C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0241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01168" y="91440"/>
            <a:ext cx="10515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63093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FDBFE"/>
                </a:solidFill>
                <a:latin typeface="Calibri"/>
              </a:rPr>
              <a:t>What is HELIX and why it matters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24128"/>
            <a:ext cx="12188952" cy="228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693408"/>
            <a:ext cx="12188952" cy="22860"/>
          </a:xfrm>
          <a:prstGeom prst="rect">
            <a:avLst/>
          </a:prstGeom>
          <a:solidFill>
            <a:srgbClr val="0C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6720840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HELIX  ·  QEA Banking Platform  ·  Internal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72084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Slide 3 of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117043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D4ED8"/>
                </a:solidFill>
                <a:latin typeface="Calibri"/>
              </a:rPr>
              <a:t>PLATFORM VISION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" y="1426464"/>
            <a:ext cx="2286000" cy="914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7472" y="1517904"/>
            <a:ext cx="5212080" cy="5138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2064" y="1673352"/>
            <a:ext cx="48463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Calibri"/>
              </a:rPr>
              <a:t>HELIX is a modular, AI-powered Quality Engineering &amp; Assurance platform built specifically for regulated banking environments.
It automates the most time-intensive QA workflows — test case generation, requirements traceability, defect pattern analysis, and test data preparation — using a local-first architecture that requires zero external API keys.
Every agent is powered by GitHub Copilot (GPT-4o, Claude 3.5, Gemini 2.5) via a VS Code extension bridge running on localhost:3000. If the LLM is unavailable, all agents fall back to deterministic mode.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117043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59669"/>
                </a:solidFill>
                <a:latin typeface="Calibri"/>
              </a:rPr>
              <a:t>KEY DIFFERENTIATORS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1426464"/>
            <a:ext cx="2743200" cy="914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852160" y="1554480"/>
            <a:ext cx="29260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852160" y="1554480"/>
            <a:ext cx="50292" cy="8686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016752" y="1609344"/>
            <a:ext cx="2697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Local-First Architecture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16752" y="1993391"/>
            <a:ext cx="2697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No external APIs ever required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160" y="2523744"/>
            <a:ext cx="29260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852160" y="2523744"/>
            <a:ext cx="50292" cy="8686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16752" y="2578608"/>
            <a:ext cx="2697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ISTQB Compliant Output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16752" y="2962656"/>
            <a:ext cx="2697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BVA, EP, Decision Tables built-in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52160" y="3493008"/>
            <a:ext cx="29260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852160" y="3493008"/>
            <a:ext cx="50292" cy="8686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016752" y="3547872"/>
            <a:ext cx="2697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Banking Regulatory Ready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16752" y="3931920"/>
            <a:ext cx="2697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RBI, PCI-DSS, NPCI, Basel checks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52160" y="4462272"/>
            <a:ext cx="29260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852160" y="4462272"/>
            <a:ext cx="50292" cy="8686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016752" y="4517136"/>
            <a:ext cx="2697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Intelligent Fallback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16752" y="4901183"/>
            <a:ext cx="2697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100% uptime even without LLM bridge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52160" y="5431536"/>
            <a:ext cx="29260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852160" y="5431536"/>
            <a:ext cx="50292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016752" y="5486400"/>
            <a:ext cx="2697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Single-Command Deploy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16752" y="5870448"/>
            <a:ext cx="2697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npm run dev starts everything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34272" y="117043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D97706"/>
                </a:solidFill>
                <a:latin typeface="Calibri"/>
              </a:rPr>
              <a:t>PLATFORM METRICS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34272" y="1426464"/>
            <a:ext cx="2743200" cy="914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9034272" y="1554480"/>
            <a:ext cx="14630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034272" y="1554480"/>
            <a:ext cx="1463040" cy="3657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034272" y="1691639"/>
            <a:ext cx="1463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D4ED8"/>
                </a:solidFill>
                <a:latin typeface="Calibri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34272" y="2395728"/>
            <a:ext cx="1463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75569"/>
                </a:solidFill>
                <a:latin typeface="Calibri"/>
              </a:rPr>
              <a:t>Autonomous AI Agents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607040" y="1554480"/>
            <a:ext cx="14630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10607040" y="1554480"/>
            <a:ext cx="146304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607040" y="1691639"/>
            <a:ext cx="1463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D9488"/>
                </a:solidFill>
                <a:latin typeface="Calibri"/>
              </a:rPr>
              <a:t>18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07040" y="2395728"/>
            <a:ext cx="1463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75569"/>
                </a:solidFill>
                <a:latin typeface="Calibri"/>
              </a:rPr>
              <a:t>Agent Prompt Files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034272" y="3154680"/>
            <a:ext cx="14630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034272" y="3154680"/>
            <a:ext cx="146304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034272" y="3291840"/>
            <a:ext cx="1463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7C3AED"/>
                </a:solidFill>
                <a:latin typeface="Calibri"/>
              </a:rPr>
              <a:t>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34272" y="3995928"/>
            <a:ext cx="1463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75569"/>
                </a:solidFill>
                <a:latin typeface="Calibri"/>
              </a:rPr>
              <a:t>RTM Sub-Agents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607040" y="3154680"/>
            <a:ext cx="14630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10607040" y="3154680"/>
            <a:ext cx="1463040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607040" y="3291840"/>
            <a:ext cx="1463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59669"/>
                </a:solidFill>
                <a:latin typeface="Calibri"/>
              </a:rPr>
              <a:t>&lt;2 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607040" y="3995928"/>
            <a:ext cx="1463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75569"/>
                </a:solidFill>
                <a:latin typeface="Calibri"/>
              </a:rPr>
              <a:t>Per Execution Time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034272" y="4754880"/>
            <a:ext cx="14630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9034272" y="4754880"/>
            <a:ext cx="1463040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034272" y="4892040"/>
            <a:ext cx="1463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D97706"/>
                </a:solidFill>
                <a:latin typeface="Calibri"/>
              </a:rPr>
              <a:t>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34272" y="5596128"/>
            <a:ext cx="1463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75569"/>
                </a:solidFill>
                <a:latin typeface="Calibri"/>
              </a:rPr>
              <a:t>External API Keys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607040" y="4754880"/>
            <a:ext cx="14630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10607040" y="4754880"/>
            <a:ext cx="1463040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0607040" y="4892040"/>
            <a:ext cx="1463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DC2626"/>
                </a:solidFill>
                <a:latin typeface="Calibri"/>
              </a:rPr>
              <a:t>100%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607040" y="5596128"/>
            <a:ext cx="1463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75569"/>
                </a:solidFill>
                <a:latin typeface="Calibri"/>
              </a:rPr>
              <a:t>Fallback Coverage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0C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0241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01168" y="91440"/>
            <a:ext cx="10515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63093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FDBFE"/>
                </a:solidFill>
                <a:latin typeface="Calibri"/>
              </a:rPr>
              <a:t>5 critical QA challenges in regulated banking environments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24128"/>
            <a:ext cx="12188952" cy="228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693408"/>
            <a:ext cx="12188952" cy="22860"/>
          </a:xfrm>
          <a:prstGeom prst="rect">
            <a:avLst/>
          </a:prstGeom>
          <a:solidFill>
            <a:srgbClr val="0C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6720840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HELIX  ·  QEA Banking Platform  ·  Internal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72084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Slide 4 of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" y="1170432"/>
            <a:ext cx="5577840" cy="1600200"/>
          </a:xfrm>
          <a:prstGeom prst="rect">
            <a:avLst/>
          </a:prstGeom>
          <a:solidFill>
            <a:srgbClr val="FEE2E2"/>
          </a:solidFill>
          <a:ln w="9525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7472" y="1170432"/>
            <a:ext cx="50292" cy="1600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57200" y="1298448"/>
            <a:ext cx="420624" cy="274320"/>
          </a:xfrm>
          <a:prstGeom prst="roundRect">
            <a:avLst>
              <a:gd name="adj" fmla="val 5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1298448"/>
            <a:ext cx="4206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1261872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F1D1D"/>
                </a:solidFill>
                <a:latin typeface="Calibri"/>
              </a:rPr>
              <a:t>Manual Test Case Generation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" y="1673352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  <a:latin typeface="Calibri"/>
              </a:rPr>
              <a:t>QA teams spending 2–3 hours per story writing test cases manually with no ISTQB consistency.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" y="240487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DC2626"/>
                </a:solidFill>
                <a:latin typeface="Calibri"/>
              </a:rPr>
              <a:t>Impact: Delayed releases  ·  Missed edge cases  ·  High error rate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53912" y="1170432"/>
            <a:ext cx="5577840" cy="1600200"/>
          </a:xfrm>
          <a:prstGeom prst="rect">
            <a:avLst/>
          </a:prstGeom>
          <a:solidFill>
            <a:srgbClr val="FEE2E2"/>
          </a:solidFill>
          <a:ln w="9525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53912" y="1170432"/>
            <a:ext cx="50292" cy="1600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263640" y="1298448"/>
            <a:ext cx="420624" cy="274320"/>
          </a:xfrm>
          <a:prstGeom prst="roundRect">
            <a:avLst>
              <a:gd name="adj" fmla="val 5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63640" y="1298448"/>
            <a:ext cx="4206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93992" y="1261872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F1D1D"/>
                </a:solidFill>
                <a:latin typeface="Calibri"/>
              </a:rPr>
              <a:t>No Requirements Traceability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2783" y="1673352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  <a:latin typeface="Calibri"/>
              </a:rPr>
              <a:t>BRD in Confluence, stories in Jira, tests in Zephyr — completely disconnected silos.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2783" y="240487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DC2626"/>
                </a:solidFill>
                <a:latin typeface="Calibri"/>
              </a:rPr>
              <a:t>Impact: Incomplete audits  ·  Regulatory gaps  ·  Manual RTM effort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7472" y="2889504"/>
            <a:ext cx="5577840" cy="1600200"/>
          </a:xfrm>
          <a:prstGeom prst="rect">
            <a:avLst/>
          </a:prstGeom>
          <a:solidFill>
            <a:srgbClr val="FEE2E2"/>
          </a:solidFill>
          <a:ln w="9525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47472" y="2889504"/>
            <a:ext cx="50292" cy="1600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457200" y="3017520"/>
            <a:ext cx="420624" cy="274320"/>
          </a:xfrm>
          <a:prstGeom prst="roundRect">
            <a:avLst>
              <a:gd name="adj" fmla="val 5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3017520"/>
            <a:ext cx="4206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" y="2980944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F1D1D"/>
                </a:solidFill>
                <a:latin typeface="Calibri"/>
              </a:rPr>
              <a:t>Defect Pattern Blindness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" y="3392424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  <a:latin typeface="Calibri"/>
              </a:rPr>
              <a:t>Defects analysed individually; no cross-release pattern recognition or root-cause intelligence.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" y="412394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DC2626"/>
                </a:solidFill>
                <a:latin typeface="Calibri"/>
              </a:rPr>
              <a:t>Impact: Same bugs repeat  ·  Reactive QA  ·  High regression failure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53912" y="2889504"/>
            <a:ext cx="5577840" cy="1600200"/>
          </a:xfrm>
          <a:prstGeom prst="rect">
            <a:avLst/>
          </a:prstGeom>
          <a:solidFill>
            <a:srgbClr val="FEE2E2"/>
          </a:solidFill>
          <a:ln w="9525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153912" y="2889504"/>
            <a:ext cx="50292" cy="1600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6263640" y="3017520"/>
            <a:ext cx="420624" cy="274320"/>
          </a:xfrm>
          <a:prstGeom prst="roundRect">
            <a:avLst>
              <a:gd name="adj" fmla="val 5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63640" y="3017520"/>
            <a:ext cx="4206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93992" y="2980944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F1D1D"/>
                </a:solidFill>
                <a:latin typeface="Calibri"/>
              </a:rPr>
              <a:t>Test Data Compliance Risk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72783" y="3392424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  <a:latin typeface="Calibri"/>
              </a:rPr>
              <a:t>Real PAN, account numbers and Aadhaar data copied to test environments violating PCI-DSS.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72783" y="412394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DC2626"/>
                </a:solidFill>
                <a:latin typeface="Calibri"/>
              </a:rPr>
              <a:t>Impact: Audit findings  ·  Compliance penalties  ·  Data leakage risk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31820" y="4608576"/>
            <a:ext cx="5577840" cy="1600200"/>
          </a:xfrm>
          <a:prstGeom prst="rect">
            <a:avLst/>
          </a:prstGeom>
          <a:solidFill>
            <a:srgbClr val="FEE2E2"/>
          </a:solidFill>
          <a:ln w="9525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3131820" y="4608576"/>
            <a:ext cx="50292" cy="1600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3241548" y="4736592"/>
            <a:ext cx="420624" cy="274320"/>
          </a:xfrm>
          <a:prstGeom prst="roundRect">
            <a:avLst>
              <a:gd name="adj" fmla="val 5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241548" y="4736592"/>
            <a:ext cx="4206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71900" y="4700016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F1D1D"/>
                </a:solidFill>
                <a:latin typeface="Calibri"/>
              </a:rPr>
              <a:t>External AI APIs Blocked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50691" y="5111496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  <a:latin typeface="Calibri"/>
              </a:rPr>
              <a:t>Banking IT security blocks all outbound calls to OpenAI, Anthropic, Google AI endpoints.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50691" y="584301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DC2626"/>
                </a:solidFill>
                <a:latin typeface="Calibri"/>
              </a:rPr>
              <a:t>Impact: Cannot adopt AI  ·  Stuck with legacy tools  ·  Competitive gap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0C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0241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01168" y="91440"/>
            <a:ext cx="10515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Solution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63093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FDBFE"/>
                </a:solidFill>
                <a:latin typeface="Calibri"/>
              </a:rPr>
              <a:t>How HELIX solves every challenge — 7 targeted solutions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24128"/>
            <a:ext cx="12188952" cy="228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693408"/>
            <a:ext cx="12188952" cy="22860"/>
          </a:xfrm>
          <a:prstGeom prst="rect">
            <a:avLst/>
          </a:prstGeom>
          <a:solidFill>
            <a:srgbClr val="0C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6720840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HELIX  ·  QEA Banking Platform  ·  Internal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72084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Slide 5 of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" y="1170432"/>
            <a:ext cx="5577840" cy="1353312"/>
          </a:xfrm>
          <a:prstGeom prst="rect">
            <a:avLst/>
          </a:prstGeom>
          <a:solidFill>
            <a:srgbClr val="D1FAE5"/>
          </a:solidFill>
          <a:ln w="9525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7472" y="1170432"/>
            <a:ext cx="50292" cy="135331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57200" y="1280160"/>
            <a:ext cx="420624" cy="274320"/>
          </a:xfrm>
          <a:prstGeom prst="roundRect">
            <a:avLst>
              <a:gd name="adj" fmla="val 5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1280160"/>
            <a:ext cx="4206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1243584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4E3B"/>
                </a:solidFill>
                <a:latin typeface="Calibri"/>
              </a:rPr>
              <a:t>TestCase Generator Agent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93792" y="1225296"/>
            <a:ext cx="658368" cy="256032"/>
          </a:xfrm>
          <a:prstGeom prst="roundRect">
            <a:avLst>
              <a:gd name="adj" fmla="val 5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93792" y="1234440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✓  Solves P1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" y="1673352"/>
            <a:ext cx="532180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  <a:latin typeface="Calibri"/>
              </a:rPr>
              <a:t>Produces ISTQB-compliant BVA / EP / Decision Table test cases from a Jira story in under 2 minutes.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53912" y="1170432"/>
            <a:ext cx="5577840" cy="1353312"/>
          </a:xfrm>
          <a:prstGeom prst="rect">
            <a:avLst/>
          </a:prstGeom>
          <a:solidFill>
            <a:srgbClr val="D1FAE5"/>
          </a:solidFill>
          <a:ln w="9525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53912" y="1170432"/>
            <a:ext cx="50292" cy="135331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263640" y="1280160"/>
            <a:ext cx="420624" cy="274320"/>
          </a:xfrm>
          <a:prstGeom prst="roundRect">
            <a:avLst>
              <a:gd name="adj" fmla="val 500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63640" y="1280160"/>
            <a:ext cx="4206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93992" y="1243584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4E3B"/>
                </a:solidFill>
                <a:latin typeface="Calibri"/>
              </a:rPr>
              <a:t>TraceabilityMatrix Agent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000232" y="1225296"/>
            <a:ext cx="658368" cy="256032"/>
          </a:xfrm>
          <a:prstGeom prst="roundRect">
            <a:avLst>
              <a:gd name="adj" fmla="val 500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000232" y="1234440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✓  Solves P2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72783" y="1673352"/>
            <a:ext cx="532180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  <a:latin typeface="Calibri"/>
              </a:rPr>
              <a:t>9 sub-agents auto-build the full RTM: Confluence BRD → Jira AC → Test Cases in one pipeline.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7472" y="2651760"/>
            <a:ext cx="5577840" cy="1353312"/>
          </a:xfrm>
          <a:prstGeom prst="rect">
            <a:avLst/>
          </a:prstGeom>
          <a:solidFill>
            <a:srgbClr val="D1FAE5"/>
          </a:solidFill>
          <a:ln w="9525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47472" y="2651760"/>
            <a:ext cx="50292" cy="135331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457200" y="2761488"/>
            <a:ext cx="420624" cy="274320"/>
          </a:xfrm>
          <a:prstGeom prst="roundRect">
            <a:avLst>
              <a:gd name="adj" fmla="val 5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2761488"/>
            <a:ext cx="4206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" y="2724912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4E3B"/>
                </a:solidFill>
                <a:latin typeface="Calibri"/>
              </a:rPr>
              <a:t>Defect Analyzer Agent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193792" y="2706624"/>
            <a:ext cx="658368" cy="256032"/>
          </a:xfrm>
          <a:prstGeom prst="roundRect">
            <a:avLst>
              <a:gd name="adj" fmla="val 5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193792" y="2715768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✓  Solves P3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" y="3154680"/>
            <a:ext cx="532180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  <a:latin typeface="Calibri"/>
              </a:rPr>
              <a:t>LLM pattern recognition across defect history; flags root causes, predicts high-risk areas.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53912" y="2651760"/>
            <a:ext cx="5577840" cy="1353312"/>
          </a:xfrm>
          <a:prstGeom prst="rect">
            <a:avLst/>
          </a:prstGeom>
          <a:solidFill>
            <a:srgbClr val="D1FAE5"/>
          </a:solidFill>
          <a:ln w="9525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153912" y="2651760"/>
            <a:ext cx="50292" cy="135331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6263640" y="2761488"/>
            <a:ext cx="420624" cy="274320"/>
          </a:xfrm>
          <a:prstGeom prst="roundRect">
            <a:avLst>
              <a:gd name="adj" fmla="val 5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263640" y="2761488"/>
            <a:ext cx="4206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93992" y="2724912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4E3B"/>
                </a:solidFill>
                <a:latin typeface="Calibri"/>
              </a:rPr>
              <a:t>SQL Data Generator Agent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1000232" y="2706624"/>
            <a:ext cx="658368" cy="256032"/>
          </a:xfrm>
          <a:prstGeom prst="roundRect">
            <a:avLst>
              <a:gd name="adj" fmla="val 5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1000232" y="2715768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✓  Solves P4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72783" y="3154680"/>
            <a:ext cx="532180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  <a:latin typeface="Calibri"/>
              </a:rPr>
              <a:t>Auto-masks PAN/account/Aadhaar; generates fresh PCI-DSS compliant INSERT statements from story context.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47472" y="4133088"/>
            <a:ext cx="5577840" cy="1353312"/>
          </a:xfrm>
          <a:prstGeom prst="rect">
            <a:avLst/>
          </a:prstGeom>
          <a:solidFill>
            <a:srgbClr val="D1FAE5"/>
          </a:solidFill>
          <a:ln w="9525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347472" y="4133088"/>
            <a:ext cx="50292" cy="135331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457200" y="4242816"/>
            <a:ext cx="420624" cy="274320"/>
          </a:xfrm>
          <a:prstGeom prst="roundRect">
            <a:avLst>
              <a:gd name="adj" fmla="val 5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57200" y="4242816"/>
            <a:ext cx="4206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7552" y="4206240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4E3B"/>
                </a:solidFill>
                <a:latin typeface="Calibri"/>
              </a:rPr>
              <a:t>Local LLM Bridge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193792" y="4187952"/>
            <a:ext cx="658368" cy="256032"/>
          </a:xfrm>
          <a:prstGeom prst="roundRect">
            <a:avLst>
              <a:gd name="adj" fmla="val 5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193792" y="4197096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✓  Solves P5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6344" y="4636008"/>
            <a:ext cx="532180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  <a:latin typeface="Calibri"/>
              </a:rPr>
              <a:t>VS Code Copilot extension acts as bridge (localhost:3000); GPT-4o / Claude / Gemini, zero keys needed.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53912" y="4133088"/>
            <a:ext cx="5577840" cy="1353312"/>
          </a:xfrm>
          <a:prstGeom prst="rect">
            <a:avLst/>
          </a:prstGeom>
          <a:solidFill>
            <a:srgbClr val="D1FAE5"/>
          </a:solidFill>
          <a:ln w="9525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153912" y="4133088"/>
            <a:ext cx="50292" cy="135331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6263640" y="4242816"/>
            <a:ext cx="420624" cy="274320"/>
          </a:xfrm>
          <a:prstGeom prst="roundRect">
            <a:avLst>
              <a:gd name="adj" fmla="val 5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263640" y="4242816"/>
            <a:ext cx="4206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93992" y="4206240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4E3B"/>
                </a:solidFill>
                <a:latin typeface="Calibri"/>
              </a:rPr>
              <a:t>Deterministic Fallback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1000232" y="4187952"/>
            <a:ext cx="658368" cy="256032"/>
          </a:xfrm>
          <a:prstGeom prst="roundRect">
            <a:avLst>
              <a:gd name="adj" fmla="val 5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1000232" y="4197096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✓  Reliability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72783" y="4636008"/>
            <a:ext cx="532180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  <a:latin typeface="Calibri"/>
              </a:rPr>
              <a:t>Every agent runs in static-template mode if LLM bridge is offline — 100% platform availability.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131820" y="5614416"/>
            <a:ext cx="5577840" cy="1353312"/>
          </a:xfrm>
          <a:prstGeom prst="rect">
            <a:avLst/>
          </a:prstGeom>
          <a:solidFill>
            <a:srgbClr val="D1FAE5"/>
          </a:solidFill>
          <a:ln w="9525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3131820" y="5614416"/>
            <a:ext cx="50292" cy="1353312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3241548" y="5724144"/>
            <a:ext cx="420624" cy="274320"/>
          </a:xfrm>
          <a:prstGeom prst="roundRect">
            <a:avLst>
              <a:gd name="adj" fmla="val 5000"/>
            </a:avLst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3241548" y="5724144"/>
            <a:ext cx="4206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S7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771900" y="5687568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4E3B"/>
                </a:solidFill>
                <a:latin typeface="Calibri"/>
              </a:rPr>
              <a:t>PM2 Production Deploy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978140" y="5669280"/>
            <a:ext cx="658368" cy="256032"/>
          </a:xfrm>
          <a:prstGeom prst="roundRect">
            <a:avLst>
              <a:gd name="adj" fmla="val 5000"/>
            </a:avLst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978140" y="5678424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✓  Deployment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250691" y="6117336"/>
            <a:ext cx="532180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  <a:latin typeface="Calibri"/>
              </a:rPr>
              <a:t>ecosystem.config.cjs + PowerShell autostart keeps platform live 24/7 on offshore Windows VDI.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0C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0241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01168" y="91440"/>
            <a:ext cx="10515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63093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FDBFE"/>
                </a:solidFill>
                <a:latin typeface="Calibri"/>
              </a:rPr>
              <a:t>Full-stack local platform — no external network egress required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24128"/>
            <a:ext cx="12188952" cy="228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693408"/>
            <a:ext cx="12188952" cy="22860"/>
          </a:xfrm>
          <a:prstGeom prst="rect">
            <a:avLst/>
          </a:prstGeom>
          <a:solidFill>
            <a:srgbClr val="0C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6720840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HELIX  ·  QEA Banking Platform  ·  Internal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72084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Slide 6 of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123444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D97706"/>
                </a:solidFill>
                <a:latin typeface="Calibri"/>
              </a:rPr>
              <a:t>EXTERNAL CONTEXT SOURCES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" y="1490472"/>
            <a:ext cx="4572000" cy="914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7472" y="1481328"/>
            <a:ext cx="365760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7472" y="1481328"/>
            <a:ext cx="3657600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1545336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7706"/>
                </a:solidFill>
                <a:latin typeface="Calibri"/>
              </a:rPr>
              <a:t>Jira REST API v3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901952"/>
            <a:ext cx="3429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  <a:latin typeface="Calibri"/>
              </a:rPr>
              <a:t>GET /rest/api/3/issue/{id}
Basic Auth (email + token)
Fetches story &amp; acceptance criteria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61104" y="1481328"/>
            <a:ext cx="365760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261104" y="1481328"/>
            <a:ext cx="36576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70832" y="1545336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Calibri"/>
              </a:rPr>
              <a:t>Confluence REST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0832" y="1901952"/>
            <a:ext cx="3429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  <a:latin typeface="Calibri"/>
              </a:rPr>
              <a:t>GET /rest/api/content/{id}
Fetches BRD &amp; requirement pages
Expands body.storage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74736" y="1481328"/>
            <a:ext cx="365760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174736" y="1481328"/>
            <a:ext cx="3657600" cy="3657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84464" y="1545336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D4ED8"/>
                </a:solidFill>
                <a:latin typeface="Calibri"/>
              </a:rPr>
              <a:t>Local .md Files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4464" y="1901952"/>
            <a:ext cx="3429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  <a:latin typeface="Calibri"/>
              </a:rPr>
              <a:t>context/current-story.md
context/current-brd.md
context/defect-history.md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263347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D4ED8"/>
                </a:solidFill>
                <a:latin typeface="Calibri"/>
              </a:rPr>
              <a:t>▼  Context flows to platform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7472" y="2962656"/>
            <a:ext cx="11494007" cy="475488"/>
          </a:xfrm>
          <a:prstGeom prst="rect">
            <a:avLst/>
          </a:prstGeom>
          <a:solidFill>
            <a:srgbClr val="BFDB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47472" y="2962656"/>
            <a:ext cx="64008" cy="47548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12064" y="2999232"/>
            <a:ext cx="3840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D4ED8"/>
                </a:solidFill>
                <a:latin typeface="Calibri"/>
              </a:rPr>
              <a:t>React 18  +  Vite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62272" y="3054096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Frontend UI  ·  :5173  ·  Dashboard  ·  Agent cards  ·  Context manager  ·  Workflow builder  ·  Tailwind CSS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89320" y="3456432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D4ED8"/>
                </a:solidFill>
                <a:latin typeface="Calibri"/>
              </a:rPr>
              <a:t>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7472" y="3511296"/>
            <a:ext cx="11494007" cy="475488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47472" y="3511296"/>
            <a:ext cx="64008" cy="47548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12064" y="3547872"/>
            <a:ext cx="3840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Calibri"/>
              </a:rPr>
              <a:t>Express.js Backend  ·  Node.js 22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62272" y="3602736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REST API  ·  :3001  ·  Agent Orchestrator  ·  Context Service  ·  Route handlers  ·  Winston logger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89320" y="4005071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D9488"/>
                </a:solidFill>
                <a:latin typeface="Calibri"/>
              </a:rPr>
              <a:t>▼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7472" y="4059936"/>
            <a:ext cx="11494007" cy="475488"/>
          </a:xfrm>
          <a:prstGeom prst="rect">
            <a:avLst/>
          </a:prstGeom>
          <a:solidFill>
            <a:srgbClr val="BFDBFE"/>
          </a:solidFill>
          <a:ln w="12700">
            <a:solidFill>
              <a:srgbClr val="0C2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47472" y="4059936"/>
            <a:ext cx="64008" cy="475488"/>
          </a:xfrm>
          <a:prstGeom prst="rect">
            <a:avLst/>
          </a:prstGeom>
          <a:solidFill>
            <a:srgbClr val="0C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12064" y="4096512"/>
            <a:ext cx="3840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C244A"/>
                </a:solidFill>
                <a:latin typeface="Calibri"/>
              </a:rPr>
              <a:t>7 Agent Executors  (+ 9 sub-agents)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62272" y="4151376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TestCase  ·  BRDMapper  ·  DefectAnalyzer  ·  SQLDataGen  ·  APITest  ·  Regression  ·  TraceMatrix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89320" y="4553712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C244A"/>
                </a:solidFill>
                <a:latin typeface="Calibri"/>
              </a:rPr>
              <a:t>▼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7472" y="4608576"/>
            <a:ext cx="11494007" cy="475488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347472" y="4608576"/>
            <a:ext cx="64008" cy="4754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2064" y="4645152"/>
            <a:ext cx="3840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Calibri"/>
              </a:rPr>
              <a:t>LLM Bridge  ·  VS Code Extension  ·  :3000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62272" y="4700016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GitHub Copilot  ·  GPT-4o  ·  Claude 3.5 Sonnet  ·  Gemini 2.5 Pro  ·  Fallback: deterministic mode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065983" y="4690871"/>
            <a:ext cx="777240" cy="274320"/>
          </a:xfrm>
          <a:prstGeom prst="roundRect">
            <a:avLst>
              <a:gd name="adj" fmla="val 5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003536" y="4700016"/>
            <a:ext cx="77724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 dirty="0">
                <a:solidFill>
                  <a:srgbClr val="FFFFFF"/>
                </a:solidFill>
                <a:latin typeface="Calibri"/>
              </a:rPr>
              <a:t>  :3000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47472" y="5166360"/>
            <a:ext cx="11494007" cy="384048"/>
          </a:xfrm>
          <a:prstGeom prst="rect">
            <a:avLst/>
          </a:prstGeom>
          <a:solidFill>
            <a:srgbClr val="FEF9C3"/>
          </a:solidFill>
          <a:ln w="9525">
            <a:solidFill>
              <a:srgbClr val="CA8A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12064" y="521208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A8A04"/>
                </a:solidFill>
                <a:latin typeface="Calibri"/>
              </a:rPr>
              <a:t>⚙  PM2 Process Manager  (ecosystem.config.cjs)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99632" y="5212080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83500"/>
                </a:solidFill>
                <a:latin typeface="Calibri"/>
              </a:rPr>
              <a:t>Auto-restart  ·  Windows autostart via setup-autostart.ps1  ·  Offshore VDI deployment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0C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0241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01168" y="91440"/>
            <a:ext cx="10515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End-to-End Request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63093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FDBFE"/>
                </a:solidFill>
                <a:latin typeface="Calibri"/>
              </a:rPr>
              <a:t>How a QA engineer's action becomes an AI-powered output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24128"/>
            <a:ext cx="12188952" cy="228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693408"/>
            <a:ext cx="12188952" cy="22860"/>
          </a:xfrm>
          <a:prstGeom prst="rect">
            <a:avLst/>
          </a:prstGeom>
          <a:solidFill>
            <a:srgbClr val="0C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6720840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HELIX  ·  QEA Banking Platform  ·  Internal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72084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Slide 7 of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" y="1170432"/>
            <a:ext cx="2176272" cy="17190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7472" y="1170432"/>
            <a:ext cx="2176272" cy="3657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216151" y="1280160"/>
            <a:ext cx="438912" cy="438912"/>
          </a:xfrm>
          <a:prstGeom prst="roundRect">
            <a:avLst>
              <a:gd name="adj" fmla="val 500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16151" y="1289304"/>
            <a:ext cx="43891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" y="1828800"/>
            <a:ext cx="199339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  <a:latin typeface="Calibri"/>
              </a:rPr>
              <a:t>QA Opens Browser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2249424"/>
            <a:ext cx="1993391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75569"/>
                </a:solidFill>
                <a:latin typeface="Calibri"/>
              </a:rPr>
              <a:t>localhost:5173
React UI loads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32887" y="1828800"/>
            <a:ext cx="9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D4ED8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33472" y="1170432"/>
            <a:ext cx="2176272" cy="17190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633472" y="1170432"/>
            <a:ext cx="2176272" cy="3657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502152" y="1280160"/>
            <a:ext cx="438912" cy="438912"/>
          </a:xfrm>
          <a:prstGeom prst="roundRect">
            <a:avLst>
              <a:gd name="adj" fmla="val 500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502152" y="1289304"/>
            <a:ext cx="43891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24912" y="1828800"/>
            <a:ext cx="199339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  <a:latin typeface="Calibri"/>
              </a:rPr>
              <a:t>Selects 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24912" y="2249424"/>
            <a:ext cx="1993391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75569"/>
                </a:solidFill>
                <a:latin typeface="Calibri"/>
              </a:rPr>
              <a:t>Chooses context
&amp; triggers execute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18888" y="1828800"/>
            <a:ext cx="9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D4ED8"/>
                </a:solidFill>
                <a:latin typeface="Calibri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19472" y="1170432"/>
            <a:ext cx="2176272" cy="17190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919472" y="1170432"/>
            <a:ext cx="2176272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788152" y="1280160"/>
            <a:ext cx="438912" cy="438912"/>
          </a:xfrm>
          <a:prstGeom prst="roundRect">
            <a:avLst>
              <a:gd name="adj" fmla="val 5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788152" y="1289304"/>
            <a:ext cx="43891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10912" y="1828800"/>
            <a:ext cx="199339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  <a:latin typeface="Calibri"/>
              </a:rPr>
              <a:t>Frontend POST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10912" y="2249424"/>
            <a:ext cx="1993391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75569"/>
                </a:solidFill>
                <a:latin typeface="Calibri"/>
              </a:rPr>
              <a:t>/api/agents/:id
/execute  →  :3001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04888" y="1828800"/>
            <a:ext cx="9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9488"/>
                </a:solidFill>
                <a:latin typeface="Calibri"/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05472" y="1170432"/>
            <a:ext cx="2176272" cy="17190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205472" y="1170432"/>
            <a:ext cx="2176272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8074152" y="1280160"/>
            <a:ext cx="438912" cy="438912"/>
          </a:xfrm>
          <a:prstGeom prst="roundRect">
            <a:avLst>
              <a:gd name="adj" fmla="val 5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074152" y="1289304"/>
            <a:ext cx="43891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96912" y="1828800"/>
            <a:ext cx="199339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  <a:latin typeface="Calibri"/>
              </a:rPr>
              <a:t>Orchestrator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96912" y="2249424"/>
            <a:ext cx="1993391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75569"/>
                </a:solidFill>
                <a:latin typeface="Calibri"/>
              </a:rPr>
              <a:t>Loads prompt.md
Reads context files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90888" y="1828800"/>
            <a:ext cx="9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9488"/>
                </a:solidFill>
                <a:latin typeface="Calibri"/>
              </a:rPr>
              <a:t>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491472" y="1170432"/>
            <a:ext cx="2176272" cy="17190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491472" y="1170432"/>
            <a:ext cx="2176272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10360152" y="1280160"/>
            <a:ext cx="438912" cy="438912"/>
          </a:xfrm>
          <a:prstGeom prst="roundRect">
            <a:avLst>
              <a:gd name="adj" fmla="val 5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360152" y="1289304"/>
            <a:ext cx="43891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82912" y="1828800"/>
            <a:ext cx="199339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  <a:latin typeface="Calibri"/>
              </a:rPr>
              <a:t>LLM POST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82912" y="2249424"/>
            <a:ext cx="1993391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75569"/>
                </a:solidFill>
                <a:latin typeface="Calibri"/>
              </a:rPr>
              <a:t>POST localhost
:3000/ask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0" y="296265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C3AED"/>
                </a:solidFill>
                <a:latin typeface="Calibri"/>
              </a:rPr>
              <a:t>▼  LLM processes and responds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490472" y="3273552"/>
            <a:ext cx="2176272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1490472" y="3273552"/>
            <a:ext cx="2176272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2359152" y="3383280"/>
            <a:ext cx="438912" cy="438912"/>
          </a:xfrm>
          <a:prstGeom prst="roundRect">
            <a:avLst>
              <a:gd name="adj" fmla="val 5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359152" y="3392424"/>
            <a:ext cx="43891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581912" y="3931920"/>
            <a:ext cx="199339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  <a:latin typeface="Calibri"/>
              </a:rPr>
              <a:t>GitHub Copilot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581912" y="4389120"/>
            <a:ext cx="1993391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75569"/>
                </a:solidFill>
                <a:latin typeface="Calibri"/>
              </a:rPr>
              <a:t>Model invoked:
GPT-4o / Claude
/ Gemini 2.5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75887" y="3959352"/>
            <a:ext cx="9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C3AED"/>
                </a:solidFill>
                <a:latin typeface="Calibri"/>
              </a:rPr>
              <a:t>→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776472" y="3273552"/>
            <a:ext cx="2176272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3776472" y="3273552"/>
            <a:ext cx="2176272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4645152" y="3383280"/>
            <a:ext cx="438912" cy="438912"/>
          </a:xfrm>
          <a:prstGeom prst="roundRect">
            <a:avLst>
              <a:gd name="adj" fmla="val 5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645152" y="3392424"/>
            <a:ext cx="43891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867911" y="3931920"/>
            <a:ext cx="199339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  <a:latin typeface="Calibri"/>
              </a:rPr>
              <a:t>Response Processed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867911" y="4389120"/>
            <a:ext cx="1993391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75569"/>
                </a:solidFill>
                <a:latin typeface="Calibri"/>
              </a:rPr>
              <a:t>Agent formats
output as
Markdown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961888" y="3959352"/>
            <a:ext cx="9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9488"/>
                </a:solidFill>
                <a:latin typeface="Calibri"/>
              </a:rPr>
              <a:t>→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062472" y="3273552"/>
            <a:ext cx="2176272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6062472" y="3273552"/>
            <a:ext cx="2176272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6931152" y="3383280"/>
            <a:ext cx="438912" cy="438912"/>
          </a:xfrm>
          <a:prstGeom prst="roundRect">
            <a:avLst>
              <a:gd name="adj" fmla="val 5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931152" y="3392424"/>
            <a:ext cx="43891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153912" y="3931920"/>
            <a:ext cx="199339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  <a:latin typeface="Calibri"/>
              </a:rPr>
              <a:t>Fallback Check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153912" y="4389120"/>
            <a:ext cx="1993391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75569"/>
                </a:solidFill>
                <a:latin typeface="Calibri"/>
              </a:rPr>
              <a:t>If LLM offline →
Deterministic
template used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247888" y="3959352"/>
            <a:ext cx="9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97706"/>
                </a:solidFill>
                <a:latin typeface="Calibri"/>
              </a:rPr>
              <a:t>→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348471" y="3273552"/>
            <a:ext cx="2176272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8348471" y="3273552"/>
            <a:ext cx="2176272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ounded Rectangle 67"/>
          <p:cNvSpPr/>
          <p:nvPr/>
        </p:nvSpPr>
        <p:spPr>
          <a:xfrm>
            <a:off x="9217151" y="3383280"/>
            <a:ext cx="438912" cy="438912"/>
          </a:xfrm>
          <a:prstGeom prst="roundRect">
            <a:avLst>
              <a:gd name="adj" fmla="val 5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9217151" y="3392424"/>
            <a:ext cx="43891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439911" y="3931920"/>
            <a:ext cx="199339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  <a:latin typeface="Calibri"/>
              </a:rPr>
              <a:t>Output Delivered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439911" y="4389120"/>
            <a:ext cx="1993391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75569"/>
                </a:solidFill>
                <a:latin typeface="Calibri"/>
              </a:rPr>
              <a:t>Rendered in UI
Ready for copy
to Jira / Conf.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0C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0241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01168" y="91440"/>
            <a:ext cx="10515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API Calls &amp; Integrations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63093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FDBFE"/>
                </a:solidFill>
                <a:latin typeface="Calibri"/>
              </a:rPr>
              <a:t>Every HTTP endpoint invoked inside the HELIX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24128"/>
            <a:ext cx="12188952" cy="228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693408"/>
            <a:ext cx="12188952" cy="22860"/>
          </a:xfrm>
          <a:prstGeom prst="rect">
            <a:avLst/>
          </a:prstGeom>
          <a:solidFill>
            <a:srgbClr val="0C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6720840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HELIX  ·  QEA Banking Platform  ·  Internal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72084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Slide 8 of 12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47472" y="1170432"/>
          <a:ext cx="11494005" cy="5230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75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227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41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98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5741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2303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0C24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Caller Module</a:t>
                      </a:r>
                    </a:p>
                  </a:txBody>
                  <a:tcPr>
                    <a:solidFill>
                      <a:srgbClr val="0C24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Endpoint</a:t>
                      </a:r>
                    </a:p>
                  </a:txBody>
                  <a:tcPr>
                    <a:solidFill>
                      <a:srgbClr val="0C24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>
                    <a:solidFill>
                      <a:srgbClr val="0C24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Auth</a:t>
                      </a:r>
                    </a:p>
                  </a:txBody>
                  <a:tcPr>
                    <a:solidFill>
                      <a:srgbClr val="0C24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>
                    <a:solidFill>
                      <a:srgbClr val="0C24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03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Calibri"/>
                        </a:rPr>
                        <a:t>context-fetcher.js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Calibri"/>
                        </a:rPr>
                        <a:t>{jira}/rest/api/3/issue/{storyId}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Calibri"/>
                        </a:rPr>
                        <a:t>Basic Auth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Calibri"/>
                        </a:rPr>
                        <a:t>Fetch story &amp; AC from Jira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303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BFDB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Calibri"/>
                        </a:rPr>
                        <a:t>confluence-client.js</a:t>
                      </a:r>
                    </a:p>
                  </a:txBody>
                  <a:tcPr>
                    <a:solidFill>
                      <a:srgbClr val="BFDB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Calibri"/>
                        </a:rPr>
                        <a:t>{conf}/rest/api/content/{id}?expand=body</a:t>
                      </a:r>
                    </a:p>
                  </a:txBody>
                  <a:tcPr>
                    <a:solidFill>
                      <a:srgbClr val="BFDB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>
                    <a:solidFill>
                      <a:srgbClr val="BFDB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Calibri"/>
                        </a:rPr>
                        <a:t>Basic Auth</a:t>
                      </a:r>
                    </a:p>
                  </a:txBody>
                  <a:tcPr>
                    <a:solidFill>
                      <a:srgbClr val="BFDB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Calibri"/>
                        </a:rPr>
                        <a:t>Fetch BRD page from Confluence</a:t>
                      </a:r>
                    </a:p>
                  </a:txBody>
                  <a:tcPr>
                    <a:solidFill>
                      <a:srgbClr val="BFDB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303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Calibri"/>
                        </a:rPr>
                        <a:t>All 7 agent executors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Calibri"/>
                        </a:rPr>
                        <a:t>http://localhost:3000/ask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Calibri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Calibri"/>
                        </a:rPr>
                        <a:t>None(local)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Calibri"/>
                        </a:rPr>
                        <a:t>LLM inference via Copilot bridge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303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BFDB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Calibri"/>
                        </a:rPr>
                        <a:t>traceability-matrix-executor</a:t>
                      </a:r>
                    </a:p>
                  </a:txBody>
                  <a:tcPr>
                    <a:solidFill>
                      <a:srgbClr val="BFDB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Calibri"/>
                        </a:rPr>
                        <a:t>http://localhost:3000/ask  (× 9 sub-agents)</a:t>
                      </a:r>
                    </a:p>
                  </a:txBody>
                  <a:tcPr>
                    <a:solidFill>
                      <a:srgbClr val="BFDB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Calibri"/>
                        </a:rPr>
                        <a:t>POST</a:t>
                      </a:r>
                    </a:p>
                  </a:txBody>
                  <a:tcPr>
                    <a:solidFill>
                      <a:srgbClr val="BFDB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Calibri"/>
                        </a:rPr>
                        <a:t>None(local)</a:t>
                      </a:r>
                    </a:p>
                  </a:txBody>
                  <a:tcPr>
                    <a:solidFill>
                      <a:srgbClr val="BFDB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Calibri"/>
                        </a:rPr>
                        <a:t>Orchestrated RTM pipeline calls</a:t>
                      </a:r>
                    </a:p>
                  </a:txBody>
                  <a:tcPr>
                    <a:solidFill>
                      <a:srgbClr val="BFDB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303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Calibri"/>
                        </a:rPr>
                        <a:t>React Frontend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Calibri"/>
                        </a:rPr>
                        <a:t>http://localhost:3001/api/agents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Calibri"/>
                        </a:rPr>
                        <a:t>None(local)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Calibri"/>
                        </a:rPr>
                        <a:t>List all available agents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303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BFDB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Calibri"/>
                        </a:rPr>
                        <a:t>React Frontend</a:t>
                      </a:r>
                    </a:p>
                  </a:txBody>
                  <a:tcPr>
                    <a:solidFill>
                      <a:srgbClr val="BFDB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Calibri"/>
                        </a:rPr>
                        <a:t>http://localhost:3001/api/agents/:id/execute</a:t>
                      </a:r>
                    </a:p>
                  </a:txBody>
                  <a:tcPr>
                    <a:solidFill>
                      <a:srgbClr val="BFDB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Calibri"/>
                        </a:rPr>
                        <a:t>POST</a:t>
                      </a:r>
                    </a:p>
                  </a:txBody>
                  <a:tcPr>
                    <a:solidFill>
                      <a:srgbClr val="BFDB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Calibri"/>
                        </a:rPr>
                        <a:t>None(local)</a:t>
                      </a:r>
                    </a:p>
                  </a:txBody>
                  <a:tcPr>
                    <a:solidFill>
                      <a:srgbClr val="BFDB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Calibri"/>
                        </a:rPr>
                        <a:t>Trigger agent execution</a:t>
                      </a:r>
                    </a:p>
                  </a:txBody>
                  <a:tcPr>
                    <a:solidFill>
                      <a:srgbClr val="BFDB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303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Calibri"/>
                        </a:rPr>
                        <a:t>React Frontend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Calibri"/>
                        </a:rPr>
                        <a:t>http://localhost:3001/api/context/files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Calibri"/>
                        </a:rPr>
                        <a:t>None(local)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Calibri"/>
                        </a:rPr>
                        <a:t>List context files on disk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303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BFDB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Calibri"/>
                        </a:rPr>
                        <a:t>React Frontend</a:t>
                      </a:r>
                    </a:p>
                  </a:txBody>
                  <a:tcPr>
                    <a:solidFill>
                      <a:srgbClr val="BFDB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Calibri"/>
                        </a:rPr>
                        <a:t>http://localhost:3001/api/context/:filename</a:t>
                      </a:r>
                    </a:p>
                  </a:txBody>
                  <a:tcPr>
                    <a:solidFill>
                      <a:srgbClr val="BFDB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>
                    <a:solidFill>
                      <a:srgbClr val="BFDB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Calibri"/>
                        </a:rPr>
                        <a:t>None(local)</a:t>
                      </a:r>
                    </a:p>
                  </a:txBody>
                  <a:tcPr>
                    <a:solidFill>
                      <a:srgbClr val="BFDB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Calibri"/>
                        </a:rPr>
                        <a:t>Read individual context file</a:t>
                      </a:r>
                    </a:p>
                  </a:txBody>
                  <a:tcPr>
                    <a:solidFill>
                      <a:srgbClr val="BFDB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2304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Calibri"/>
                        </a:rPr>
                        <a:t>React Frontend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Calibri"/>
                        </a:rPr>
                        <a:t>http://localhost:3001/api/workflows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Calibri"/>
                        </a:rPr>
                        <a:t>GET/POST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Calibri"/>
                        </a:rPr>
                        <a:t>None(local)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Calibri"/>
                        </a:rPr>
                        <a:t>Workflow CRUD management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0C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0241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01168" y="91440"/>
            <a:ext cx="10515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63093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FDBFE"/>
                </a:solidFill>
                <a:latin typeface="Calibri"/>
              </a:rPr>
              <a:t>Full inventory of languages, frameworks, tools and applications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24128"/>
            <a:ext cx="12188952" cy="228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693408"/>
            <a:ext cx="12188952" cy="22860"/>
          </a:xfrm>
          <a:prstGeom prst="rect">
            <a:avLst/>
          </a:prstGeom>
          <a:solidFill>
            <a:srgbClr val="0C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6720840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HELIX  ·  QEA Banking Platform  ·  Internal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72084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Slide 9 of 12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47472" y="1170432"/>
          <a:ext cx="11494005" cy="5230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88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4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9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88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123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528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>
                    <a:solidFill>
                      <a:srgbClr val="0C24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Tool / Technology</a:t>
                      </a:r>
                    </a:p>
                  </a:txBody>
                  <a:tcPr>
                    <a:solidFill>
                      <a:srgbClr val="0C24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Version</a:t>
                      </a:r>
                    </a:p>
                  </a:txBody>
                  <a:tcPr>
                    <a:solidFill>
                      <a:srgbClr val="0C24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Language</a:t>
                      </a:r>
                    </a:p>
                  </a:txBody>
                  <a:tcPr>
                    <a:solidFill>
                      <a:srgbClr val="0C24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>
                    <a:solidFill>
                      <a:srgbClr val="0C24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5282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Frontend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React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18.x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JSX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UI component framework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5282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Frontend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Vite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5.4.x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JavaScript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Build tool &amp; dev server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5282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Frontend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Tailwind CSS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3.x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CSS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Utility-first styling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5282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Frontend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Fetch API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Native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JavaScript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HTTP calls to backend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5282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Backend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Node.js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22.17.1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JavaScript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Server runtime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5282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Backend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Express.js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4.x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JavaScript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REST API framework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5282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Backend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Winston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3.x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JavaScript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Structured logging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5282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Backend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js-yaml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latest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JavaScript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Parse YAML frontmatter in agents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5282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Orchestration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Custom Orchestrator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JavaScript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Agent registry + workflow engine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5282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AI / LLM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GPT-4o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(Copilot)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HTTP/JSON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Primary model for 6 agents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5282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AI / LLM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Claude 3.5 Sonnet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(Copilot)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HTTP/JSON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Primary for TraceabilityMatrix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5282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AI / LLM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Gemini 2.5 Pro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(Copilot)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HTTP/JSON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Fallback model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5282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Bridge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LLM Bridge (VS Ext)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1.1.0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TypeScript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HTTP ↔ GitHub Copilot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5282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Integration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Jira REST API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v3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HTTP/JSON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Story &amp; acceptance criteria source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75282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Integration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Confluence REST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v2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HTTP/JSON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BRD &amp; requirements source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75282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Deployment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PM2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latest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JavaScript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Process manager &amp; auto-restart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75282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Deployment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PowerShell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5.1+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PowerShell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Windows VDI autostart script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75292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Agents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Prompt files (.md)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18 files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Markdown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YAML frontmatter + instructions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0C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0241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01168" y="91440"/>
            <a:ext cx="10515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7 Autonomous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63093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FDBFE"/>
                </a:solidFill>
                <a:latin typeface="Calibri"/>
              </a:rPr>
              <a:t>Capabilities, LLM model, temperature, timeout and fallback for each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24128"/>
            <a:ext cx="12188952" cy="228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693408"/>
            <a:ext cx="12188952" cy="22860"/>
          </a:xfrm>
          <a:prstGeom prst="rect">
            <a:avLst/>
          </a:prstGeom>
          <a:solidFill>
            <a:srgbClr val="0C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6720840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HELIX  ·  QEA Banking Platform  ·  Internal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72084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Slide 10 of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" y="1170432"/>
            <a:ext cx="3182112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7472" y="1170432"/>
            <a:ext cx="3182112" cy="3657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7472" y="1170432"/>
            <a:ext cx="50292" cy="221284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38912" y="1261872"/>
            <a:ext cx="402336" cy="402336"/>
          </a:xfrm>
          <a:prstGeom prst="roundRect">
            <a:avLst>
              <a:gd name="adj" fmla="val 500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8912" y="1271016"/>
            <a:ext cx="4023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1280160"/>
            <a:ext cx="24963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F172A"/>
                </a:solidFill>
                <a:latin typeface="Calibri"/>
              </a:rPr>
              <a:t>Test Case Generator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41832" y="1719072"/>
            <a:ext cx="24963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1792224"/>
            <a:ext cx="298094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BVA · Equivalence Partitioning · Decision Tables
Zephyr Scale / Xray compatible output
Auto-masks sensitive data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980944"/>
            <a:ext cx="1828800" cy="274320"/>
          </a:xfrm>
          <a:prstGeom prst="roundRect">
            <a:avLst>
              <a:gd name="adj" fmla="val 500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2990088"/>
            <a:ext cx="182880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  gpt-4o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340864" y="2980944"/>
            <a:ext cx="566928" cy="27432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340864" y="2990088"/>
            <a:ext cx="5669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475569"/>
                </a:solidFill>
                <a:latin typeface="Calibri"/>
              </a:rPr>
              <a:t>T=  0.7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53512" y="2980944"/>
            <a:ext cx="502920" cy="27432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953512" y="2990088"/>
            <a:ext cx="50292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475569"/>
                </a:solidFill>
                <a:latin typeface="Calibri"/>
              </a:rPr>
              <a:t>  45s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1170432"/>
            <a:ext cx="3182112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657600" y="1170432"/>
            <a:ext cx="3182112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657600" y="1170432"/>
            <a:ext cx="50292" cy="22128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3749039" y="1261872"/>
            <a:ext cx="402336" cy="402336"/>
          </a:xfrm>
          <a:prstGeom prst="roundRect">
            <a:avLst>
              <a:gd name="adj" fmla="val 5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749039" y="1271016"/>
            <a:ext cx="4023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51960" y="1280160"/>
            <a:ext cx="24963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F172A"/>
                </a:solidFill>
                <a:latin typeface="Calibri"/>
              </a:rPr>
              <a:t>BRD Mapper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51960" y="1719072"/>
            <a:ext cx="24963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767328" y="1792224"/>
            <a:ext cx="298094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Maps AC to BRD requirements
Flags RBI, PCI-DSS, NPCI, Basel gaps
Generates traceability report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767328" y="2980944"/>
            <a:ext cx="1828800" cy="274320"/>
          </a:xfrm>
          <a:prstGeom prst="roundRect">
            <a:avLst>
              <a:gd name="adj" fmla="val 5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767328" y="2990088"/>
            <a:ext cx="182880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  gpt-4o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50992" y="2980944"/>
            <a:ext cx="566928" cy="27432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650992" y="2990088"/>
            <a:ext cx="5669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475569"/>
                </a:solidFill>
                <a:latin typeface="Calibri"/>
              </a:rPr>
              <a:t>T=  0.5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63640" y="2980944"/>
            <a:ext cx="502920" cy="27432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263640" y="2990088"/>
            <a:ext cx="50292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475569"/>
                </a:solidFill>
                <a:latin typeface="Calibri"/>
              </a:rPr>
              <a:t>  30s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67728" y="1170432"/>
            <a:ext cx="3182112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967728" y="1170432"/>
            <a:ext cx="3182112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967728" y="1170432"/>
            <a:ext cx="50292" cy="22128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7059168" y="1261872"/>
            <a:ext cx="402336" cy="402336"/>
          </a:xfrm>
          <a:prstGeom prst="roundRect">
            <a:avLst>
              <a:gd name="adj" fmla="val 5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059168" y="1271016"/>
            <a:ext cx="4023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62088" y="1280160"/>
            <a:ext cx="24963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F172A"/>
                </a:solidFill>
                <a:latin typeface="Calibri"/>
              </a:rPr>
              <a:t>Defect Analyzer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62088" y="1719072"/>
            <a:ext cx="24963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077456" y="1792224"/>
            <a:ext cx="298094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Pattern recognition on defect history
Root cause categorisation
High-risk area prediction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077456" y="2980944"/>
            <a:ext cx="1828800" cy="274320"/>
          </a:xfrm>
          <a:prstGeom prst="roundRect">
            <a:avLst>
              <a:gd name="adj" fmla="val 5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077456" y="2990088"/>
            <a:ext cx="182880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  gpt-4o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961120" y="2980944"/>
            <a:ext cx="566928" cy="27432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961120" y="2990088"/>
            <a:ext cx="5669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475569"/>
                </a:solidFill>
                <a:latin typeface="Calibri"/>
              </a:rPr>
              <a:t>T=  0.6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573768" y="2980944"/>
            <a:ext cx="502920" cy="27432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573768" y="2990088"/>
            <a:ext cx="50292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475569"/>
                </a:solidFill>
                <a:latin typeface="Calibri"/>
              </a:rPr>
              <a:t>  30s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277856" y="1170432"/>
            <a:ext cx="3182112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10277856" y="1170432"/>
            <a:ext cx="3182112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10277856" y="1170432"/>
            <a:ext cx="50292" cy="221284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10369296" y="1261872"/>
            <a:ext cx="402336" cy="402336"/>
          </a:xfrm>
          <a:prstGeom prst="roundRect">
            <a:avLst>
              <a:gd name="adj" fmla="val 5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0369296" y="1271016"/>
            <a:ext cx="4023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872216" y="1280160"/>
            <a:ext cx="24963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F172A"/>
                </a:solidFill>
                <a:latin typeface="Calibri"/>
              </a:rPr>
              <a:t>SQL Data Generator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872216" y="1719072"/>
            <a:ext cx="24963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0387584" y="1792224"/>
            <a:ext cx="298094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PCI-DSS compliant INSERT statements
Auto-masks PAN, account, Aadhaar
Covers positive, negative, boundary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0387584" y="2980944"/>
            <a:ext cx="1828800" cy="274320"/>
          </a:xfrm>
          <a:prstGeom prst="roundRect">
            <a:avLst>
              <a:gd name="adj" fmla="val 5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0387584" y="2990088"/>
            <a:ext cx="182880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  gpt-4o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2271248" y="2980944"/>
            <a:ext cx="566928" cy="27432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2271248" y="2990088"/>
            <a:ext cx="5669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475569"/>
                </a:solidFill>
                <a:latin typeface="Calibri"/>
              </a:rPr>
              <a:t>T=  0.5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2883896" y="2980944"/>
            <a:ext cx="502920" cy="27432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2883896" y="2990088"/>
            <a:ext cx="50292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475569"/>
                </a:solidFill>
                <a:latin typeface="Calibri"/>
              </a:rPr>
              <a:t>  45s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47472" y="3584448"/>
            <a:ext cx="3182112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347472" y="3584448"/>
            <a:ext cx="3182112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347472" y="3584448"/>
            <a:ext cx="50292" cy="221284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ounded Rectangle 68"/>
          <p:cNvSpPr/>
          <p:nvPr/>
        </p:nvSpPr>
        <p:spPr>
          <a:xfrm>
            <a:off x="438912" y="3675888"/>
            <a:ext cx="402336" cy="402336"/>
          </a:xfrm>
          <a:prstGeom prst="roundRect">
            <a:avLst>
              <a:gd name="adj" fmla="val 5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438912" y="3685032"/>
            <a:ext cx="4023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41832" y="3694176"/>
            <a:ext cx="24963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F172A"/>
                </a:solidFill>
                <a:latin typeface="Calibri"/>
              </a:rPr>
              <a:t>API Test Agent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41832" y="4133088"/>
            <a:ext cx="24963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57200" y="4206240"/>
            <a:ext cx="298094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REST-Assured Java test classes
200/201, 400/404, 401 status codes
Idempotency &amp; concurrency scenarios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57200" y="5394959"/>
            <a:ext cx="1828800" cy="274320"/>
          </a:xfrm>
          <a:prstGeom prst="roundRect">
            <a:avLst>
              <a:gd name="adj" fmla="val 5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57200" y="5404103"/>
            <a:ext cx="182880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  gpt-4o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2340864" y="5394959"/>
            <a:ext cx="566928" cy="27432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2340864" y="5404103"/>
            <a:ext cx="5669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475569"/>
                </a:solidFill>
                <a:latin typeface="Calibri"/>
              </a:rPr>
              <a:t>T=  0.7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2953512" y="5394959"/>
            <a:ext cx="502920" cy="27432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2953512" y="5404103"/>
            <a:ext cx="50292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475569"/>
                </a:solidFill>
                <a:latin typeface="Calibri"/>
              </a:rPr>
              <a:t>  45s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657600" y="3584448"/>
            <a:ext cx="3182112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3657600" y="3584448"/>
            <a:ext cx="3182112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3657600" y="3584448"/>
            <a:ext cx="50292" cy="22128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ounded Rectangle 82"/>
          <p:cNvSpPr/>
          <p:nvPr/>
        </p:nvSpPr>
        <p:spPr>
          <a:xfrm>
            <a:off x="3749039" y="3675888"/>
            <a:ext cx="402336" cy="402336"/>
          </a:xfrm>
          <a:prstGeom prst="roundRect">
            <a:avLst>
              <a:gd name="adj" fmla="val 5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3749039" y="3685032"/>
            <a:ext cx="4023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251960" y="3694176"/>
            <a:ext cx="24963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F172A"/>
                </a:solidFill>
                <a:latin typeface="Calibri"/>
              </a:rPr>
              <a:t>Regression Selector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251960" y="4133088"/>
            <a:ext cx="24963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3767328" y="4206240"/>
            <a:ext cx="298094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Impact analysis on story changes
3-tier: MUST / SHOULD / RISK-BASED
Execution time estimates + rollback criteria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3767328" y="5394959"/>
            <a:ext cx="1828800" cy="274320"/>
          </a:xfrm>
          <a:prstGeom prst="roundRect">
            <a:avLst>
              <a:gd name="adj" fmla="val 5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3767328" y="5404103"/>
            <a:ext cx="182880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  gpt-4o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5650992" y="5394959"/>
            <a:ext cx="566928" cy="27432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5650992" y="5404103"/>
            <a:ext cx="5669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475569"/>
                </a:solidFill>
                <a:latin typeface="Calibri"/>
              </a:rPr>
              <a:t>T=  0.6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6263640" y="5394959"/>
            <a:ext cx="502920" cy="27432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6263640" y="5404103"/>
            <a:ext cx="50292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475569"/>
                </a:solidFill>
                <a:latin typeface="Calibri"/>
              </a:rPr>
              <a:t>  30s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018020" y="3575304"/>
            <a:ext cx="3182112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10277856" y="3584448"/>
            <a:ext cx="3182112" cy="36576"/>
          </a:xfrm>
          <a:prstGeom prst="rect">
            <a:avLst/>
          </a:prstGeom>
          <a:solidFill>
            <a:srgbClr val="0C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10277856" y="3584448"/>
            <a:ext cx="50292" cy="2212848"/>
          </a:xfrm>
          <a:prstGeom prst="rect">
            <a:avLst/>
          </a:prstGeom>
          <a:solidFill>
            <a:srgbClr val="0C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ounded Rectangle 96"/>
          <p:cNvSpPr/>
          <p:nvPr/>
        </p:nvSpPr>
        <p:spPr>
          <a:xfrm>
            <a:off x="10369296" y="3675888"/>
            <a:ext cx="402336" cy="402336"/>
          </a:xfrm>
          <a:prstGeom prst="roundRect">
            <a:avLst>
              <a:gd name="adj" fmla="val 5000"/>
            </a:avLst>
          </a:prstGeom>
          <a:solidFill>
            <a:srgbClr val="0C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10369296" y="3685032"/>
            <a:ext cx="4023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872216" y="3694176"/>
            <a:ext cx="24963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F172A"/>
                </a:solidFill>
                <a:latin typeface="Calibri"/>
              </a:rPr>
              <a:t>Traceability Matrix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0872216" y="4133088"/>
            <a:ext cx="24963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10387584" y="4206240"/>
            <a:ext cx="298094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9 sub-agent orchestrated pipeline
Full RTM: BRD → Jira AC → Test Cases
Gap analysis, version comparison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10387584" y="5394959"/>
            <a:ext cx="1828800" cy="274320"/>
          </a:xfrm>
          <a:prstGeom prst="roundRect">
            <a:avLst>
              <a:gd name="adj" fmla="val 5000"/>
            </a:avLst>
          </a:prstGeom>
          <a:solidFill>
            <a:srgbClr val="0C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10387584" y="5404103"/>
            <a:ext cx="182880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  claude-3.5-sonnet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12271248" y="5394959"/>
            <a:ext cx="566928" cy="27432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12271248" y="5404103"/>
            <a:ext cx="5669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475569"/>
                </a:solidFill>
                <a:latin typeface="Calibri"/>
              </a:rPr>
              <a:t>T=  0.5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12883896" y="5394959"/>
            <a:ext cx="502920" cy="27432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12883896" y="5404103"/>
            <a:ext cx="50292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475569"/>
                </a:solidFill>
                <a:latin typeface="Calibri"/>
              </a:rPr>
              <a:t>  120s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0C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0241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01168" y="91440"/>
            <a:ext cx="10515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Challenges Faced &amp; Resolutions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63093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FDBFE"/>
                </a:solidFill>
                <a:latin typeface="Calibri"/>
              </a:rPr>
              <a:t>7 real engineering problems encountered, and how they were solved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24128"/>
            <a:ext cx="12188952" cy="228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693408"/>
            <a:ext cx="12188952" cy="22860"/>
          </a:xfrm>
          <a:prstGeom prst="rect">
            <a:avLst/>
          </a:prstGeom>
          <a:solidFill>
            <a:srgbClr val="0C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6720840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HELIX  ·  QEA Banking Platform  ·  Internal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72084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Slide 11 of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" y="1170432"/>
            <a:ext cx="5577840" cy="347472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4632" y="1188720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⚠  Challenge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9904" y="1170432"/>
            <a:ext cx="6099048" cy="347472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27064" y="1188720"/>
            <a:ext cx="5852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✓  Resolution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" y="1554480"/>
            <a:ext cx="5577840" cy="640080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4632" y="1645920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Banking IT blocks all external AI APIs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52744" y="1691639"/>
            <a:ext cx="1280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59669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9904" y="1554480"/>
            <a:ext cx="6099048" cy="640080"/>
          </a:xfrm>
          <a:prstGeom prst="rect">
            <a:avLst/>
          </a:prstGeom>
          <a:solidFill>
            <a:srgbClr val="D1FAE5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27064" y="1645920"/>
            <a:ext cx="58338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Built a local LLM Bridge using the GitHub Copilot VS Code extension. No external API keys; runs on localhost:3000.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" y="2240280"/>
            <a:ext cx="5577840" cy="640080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4632" y="2331720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Manual test writing: 2–3 hours per story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52744" y="2377440"/>
            <a:ext cx="1280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59669"/>
                </a:solidFill>
                <a:latin typeface="Calibr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89904" y="2240280"/>
            <a:ext cx="6099048" cy="640080"/>
          </a:xfrm>
          <a:prstGeom prst="rect">
            <a:avLst/>
          </a:prstGeom>
          <a:solidFill>
            <a:srgbClr val="D1FAE5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27064" y="2331720"/>
            <a:ext cx="58338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TestCaseGenerator agent auto-produces ISTQB-grade BVA/EP/DT test cases from a Jira story in under 2 minutes.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7472" y="2926080"/>
            <a:ext cx="5577840" cy="640080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4632" y="3017520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RTM preparation took engineer-days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52744" y="3063240"/>
            <a:ext cx="1280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59669"/>
                </a:solidFill>
                <a:latin typeface="Calibri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89904" y="2926080"/>
            <a:ext cx="6099048" cy="640080"/>
          </a:xfrm>
          <a:prstGeom prst="rect">
            <a:avLst/>
          </a:prstGeom>
          <a:solidFill>
            <a:srgbClr val="D1FAE5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27064" y="3017520"/>
            <a:ext cx="58338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9 sub-agent TraceabilityMatrix pipeline auto-generates a full RTM from BRD + Jira AC in a single pipeline run.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7472" y="3611880"/>
            <a:ext cx="5577840" cy="640080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84632" y="3703320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PAN / account data leaking into test envs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52744" y="3749040"/>
            <a:ext cx="1280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59669"/>
                </a:solidFill>
                <a:latin typeface="Calibri"/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89904" y="3611880"/>
            <a:ext cx="6099048" cy="640080"/>
          </a:xfrm>
          <a:prstGeom prst="rect">
            <a:avLst/>
          </a:prstGeom>
          <a:solidFill>
            <a:srgbClr val="D1FAE5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227064" y="3703320"/>
            <a:ext cx="58338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SQLDataGen agent auto-masks all sensitive fields (PAN → XXXXX1234X) and generates fresh PCI-DSS compliant data.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7472" y="4297680"/>
            <a:ext cx="5577840" cy="640080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84632" y="4389120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Agents crashed when LLM was offline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52744" y="4434840"/>
            <a:ext cx="1280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59669"/>
                </a:solidFill>
                <a:latin typeface="Calibri"/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89904" y="4297680"/>
            <a:ext cx="6099048" cy="640080"/>
          </a:xfrm>
          <a:prstGeom prst="rect">
            <a:avLst/>
          </a:prstGeom>
          <a:solidFill>
            <a:srgbClr val="D1FAE5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227064" y="4389120"/>
            <a:ext cx="58338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All 7 agents implement deterministic fallback mode using static templates + hardcoded business logic.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7472" y="4983480"/>
            <a:ext cx="5577840" cy="640080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84632" y="5074920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Agent hierarchy not detected (flat load)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52744" y="5120640"/>
            <a:ext cx="1280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59669"/>
                </a:solidFill>
                <a:latin typeface="Calibri"/>
              </a:rPr>
              <a:t>→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89904" y="4983480"/>
            <a:ext cx="6099048" cy="640080"/>
          </a:xfrm>
          <a:prstGeom prst="rect">
            <a:avLst/>
          </a:prstGeom>
          <a:solidFill>
            <a:srgbClr val="D1FAE5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227064" y="5074920"/>
            <a:ext cx="58338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Two-pass orchestrator: 1st pass loads all agents; 2nd pass infers parent–child from filename prefix pattern.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47472" y="5669280"/>
            <a:ext cx="5577840" cy="640080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84632" y="5760720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No persistent deployment on offshore VDI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52744" y="5806440"/>
            <a:ext cx="1280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59669"/>
                </a:solidFill>
                <a:latin typeface="Calibri"/>
              </a:rPr>
              <a:t>→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89904" y="5669280"/>
            <a:ext cx="6099048" cy="640080"/>
          </a:xfrm>
          <a:prstGeom prst="rect">
            <a:avLst/>
          </a:prstGeom>
          <a:solidFill>
            <a:srgbClr val="D1FAE5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227064" y="5760720"/>
            <a:ext cx="58338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PM2 (ecosystem.config.cjs) + setup-autostart.ps1 registers platform as Windows service. Survives reboots.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0C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0241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01168" y="91440"/>
            <a:ext cx="10515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Business Impact &amp;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63093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FDBFE"/>
                </a:solidFill>
                <a:latin typeface="Calibri"/>
              </a:rPr>
              <a:t>Value delivered today and what's coming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24128"/>
            <a:ext cx="12188952" cy="228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693408"/>
            <a:ext cx="12188952" cy="22860"/>
          </a:xfrm>
          <a:prstGeom prst="rect">
            <a:avLst/>
          </a:prstGeom>
          <a:solidFill>
            <a:srgbClr val="0C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6720840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HELIX  ·  QEA Banking Platform  ·  Internal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72084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Slide 12 of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117043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D4ED8"/>
                </a:solidFill>
                <a:latin typeface="Calibri"/>
              </a:rPr>
              <a:t>MEASURED IMPACT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" y="1426464"/>
            <a:ext cx="2743200" cy="914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7472" y="1517904"/>
            <a:ext cx="2743200" cy="1920240"/>
          </a:xfrm>
          <a:prstGeom prst="rect">
            <a:avLst/>
          </a:prstGeom>
          <a:solidFill>
            <a:srgbClr val="BFDBFE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7472" y="1517904"/>
            <a:ext cx="2743200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72" y="1645920"/>
            <a:ext cx="27432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1D4ED8"/>
                </a:solidFill>
                <a:latin typeface="Calibri"/>
              </a:rPr>
              <a:t>85%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0352" y="2496312"/>
            <a:ext cx="2377440" cy="914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7472" y="2587752"/>
            <a:ext cx="2743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475569"/>
                </a:solidFill>
                <a:latin typeface="Calibri"/>
              </a:rPr>
              <a:t>Reduction in
test writing time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0" y="1517904"/>
            <a:ext cx="2743200" cy="1920240"/>
          </a:xfrm>
          <a:prstGeom prst="rect">
            <a:avLst/>
          </a:prstGeom>
          <a:solidFill>
            <a:srgbClr val="D1FAE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91840" y="1517904"/>
            <a:ext cx="2743200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91840" y="1645920"/>
            <a:ext cx="27432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59669"/>
                </a:solidFill>
                <a:latin typeface="Calibri"/>
              </a:rPr>
              <a:t>100%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0" y="2496312"/>
            <a:ext cx="2377440" cy="914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291840" y="2587752"/>
            <a:ext cx="2743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475569"/>
                </a:solidFill>
                <a:latin typeface="Calibri"/>
              </a:rPr>
              <a:t>ISTQB compliance
on every test suite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6208" y="1517904"/>
            <a:ext cx="2743200" cy="1920240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36208" y="1517904"/>
            <a:ext cx="2743200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36208" y="1645920"/>
            <a:ext cx="27432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D97706"/>
                </a:solidFill>
                <a:latin typeface="Calibri"/>
              </a:rPr>
              <a:t>Zero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19088" y="2496312"/>
            <a:ext cx="2377440" cy="914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36208" y="2587752"/>
            <a:ext cx="2743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475569"/>
                </a:solidFill>
                <a:latin typeface="Calibri"/>
              </a:rPr>
              <a:t>External API keys
or cloud AI costs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80576" y="1517904"/>
            <a:ext cx="2743200" cy="1920240"/>
          </a:xfrm>
          <a:prstGeom prst="rect">
            <a:avLst/>
          </a:prstGeom>
          <a:solidFill>
            <a:srgbClr val="EDE9F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180576" y="1517904"/>
            <a:ext cx="27432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80576" y="1645920"/>
            <a:ext cx="27432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7C3AED"/>
                </a:solidFill>
                <a:latin typeface="Calibri"/>
              </a:rPr>
              <a:t>24/7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363456" y="2496312"/>
            <a:ext cx="2377440" cy="914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80576" y="2587752"/>
            <a:ext cx="2743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475569"/>
                </a:solidFill>
                <a:latin typeface="Calibri"/>
              </a:rPr>
              <a:t>Availability on
offshore VDI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7472" y="365760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59669"/>
                </a:solidFill>
                <a:latin typeface="Calibri"/>
              </a:rPr>
              <a:t>BUSINESS BENEFITS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7472" y="3913632"/>
            <a:ext cx="2743200" cy="914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347472" y="3959352"/>
          <a:ext cx="11494006" cy="20848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22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347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347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122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1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Benefit Area</a:t>
                      </a:r>
                    </a:p>
                  </a:txBody>
                  <a:tcPr>
                    <a:solidFill>
                      <a:srgbClr val="0C24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Before HELIX</a:t>
                      </a:r>
                    </a:p>
                  </a:txBody>
                  <a:tcPr>
                    <a:solidFill>
                      <a:srgbClr val="0C24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After HELIX</a:t>
                      </a:r>
                    </a:p>
                  </a:txBody>
                  <a:tcPr>
                    <a:solidFill>
                      <a:srgbClr val="0C24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Impact</a:t>
                      </a:r>
                    </a:p>
                  </a:txBody>
                  <a:tcPr>
                    <a:solidFill>
                      <a:srgbClr val="0C24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1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Test Case Writing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2–3 hrs / story (manual)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&lt;2 min (AI-generated)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99% time saving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1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Requirements Trace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Days of manual effort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Auto-generated per run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Eliminates manual work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1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Defect Intelligence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Individual analysis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Pattern recognition + 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Preventive QA possible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1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Test Data Compliance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PCI-DSS risk (real data)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Auto-masked synthetic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Zero compliance risk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AI Adoption in Banking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Blocked (no ext. APIs)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Fully operational locally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AI enabled on Day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8686800" y="365760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D97706"/>
                </a:solidFill>
                <a:latin typeface="Calibri"/>
              </a:rPr>
              <a:t>ROADMAP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86800" y="3913632"/>
            <a:ext cx="2743200" cy="914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686800" y="3986784"/>
            <a:ext cx="868680" cy="274320"/>
          </a:xfrm>
          <a:prstGeom prst="roundRect">
            <a:avLst>
              <a:gd name="adj" fmla="val 5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686800" y="3995928"/>
            <a:ext cx="86868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  Q2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46920" y="4005072"/>
            <a:ext cx="2450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  <a:latin typeface="Calibri"/>
              </a:rPr>
              <a:t>Docker containerisation for environment portability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686800" y="4498848"/>
            <a:ext cx="868680" cy="274320"/>
          </a:xfrm>
          <a:prstGeom prst="roundRect">
            <a:avLst>
              <a:gd name="adj" fmla="val 5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686800" y="4507992"/>
            <a:ext cx="86868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  Q2 2026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46920" y="4517136"/>
            <a:ext cx="2450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  <a:latin typeface="Calibri"/>
              </a:rPr>
              <a:t>Zephyr Scale push-back API — auto-publish test cases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686800" y="5010912"/>
            <a:ext cx="868680" cy="274320"/>
          </a:xfrm>
          <a:prstGeom prst="roundRect">
            <a:avLst>
              <a:gd name="adj" fmla="val 5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686800" y="5020056"/>
            <a:ext cx="86868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  Q3 2026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46920" y="5029200"/>
            <a:ext cx="2450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  <a:latin typeface="Calibri"/>
              </a:rPr>
              <a:t>Natural language context editor in React UI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686800" y="5522976"/>
            <a:ext cx="868680" cy="274320"/>
          </a:xfrm>
          <a:prstGeom prst="roundRect">
            <a:avLst>
              <a:gd name="adj" fmla="val 5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686800" y="5532120"/>
            <a:ext cx="86868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  Q3 2026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46920" y="5541264"/>
            <a:ext cx="2450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  <a:latin typeface="Calibri"/>
              </a:rPr>
              <a:t>Confluence auto-publish for RTM output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C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0" y="6309360"/>
            <a:ext cx="12188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HELIX  —  Built by the QEA Team  |  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2199</Words>
  <Application>Microsoft Office PowerPoint</Application>
  <PresentationFormat>Custom</PresentationFormat>
  <Paragraphs>479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Baral, Sandipan</cp:lastModifiedBy>
  <cp:revision>2</cp:revision>
  <dcterms:created xsi:type="dcterms:W3CDTF">2013-01-27T09:14:16Z</dcterms:created>
  <dcterms:modified xsi:type="dcterms:W3CDTF">2026-04-23T05:44:20Z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8c63503-0fb3-4712-a32e-7ecb4b7d79e8_Enabled">
    <vt:lpwstr>true</vt:lpwstr>
  </property>
  <property fmtid="{D5CDD505-2E9C-101B-9397-08002B2CF9AE}" pid="3" name="MSIP_Label_88c63503-0fb3-4712-a32e-7ecb4b7d79e8_SetDate">
    <vt:lpwstr>2026-04-23T05:44:15Z</vt:lpwstr>
  </property>
  <property fmtid="{D5CDD505-2E9C-101B-9397-08002B2CF9AE}" pid="4" name="MSIP_Label_88c63503-0fb3-4712-a32e-7ecb4b7d79e8_Method">
    <vt:lpwstr>Standard</vt:lpwstr>
  </property>
  <property fmtid="{D5CDD505-2E9C-101B-9397-08002B2CF9AE}" pid="5" name="MSIP_Label_88c63503-0fb3-4712-a32e-7ecb4b7d79e8_Name">
    <vt:lpwstr>88c63503-0fb3-4712-a32e-7ecb4b7d79e8</vt:lpwstr>
  </property>
  <property fmtid="{D5CDD505-2E9C-101B-9397-08002B2CF9AE}" pid="6" name="MSIP_Label_88c63503-0fb3-4712-a32e-7ecb4b7d79e8_SiteId">
    <vt:lpwstr>d9da684f-2c03-432a-a7b6-ed714ffc7683</vt:lpwstr>
  </property>
  <property fmtid="{D5CDD505-2E9C-101B-9397-08002B2CF9AE}" pid="7" name="MSIP_Label_88c63503-0fb3-4712-a32e-7ecb4b7d79e8_ActionId">
    <vt:lpwstr>4e0ad38e-8c20-43a2-a9e0-02e8c86527d0</vt:lpwstr>
  </property>
  <property fmtid="{D5CDD505-2E9C-101B-9397-08002B2CF9AE}" pid="8" name="MSIP_Label_88c63503-0fb3-4712-a32e-7ecb4b7d79e8_ContentBits">
    <vt:lpwstr>2</vt:lpwstr>
  </property>
  <property fmtid="{D5CDD505-2E9C-101B-9397-08002B2CF9AE}" pid="9" name="MSIP_Label_88c63503-0fb3-4712-a32e-7ecb4b7d79e8_Tag">
    <vt:lpwstr>10, 3, 0, 1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Internal</vt:lpwstr>
  </property>
</Properties>
</file>